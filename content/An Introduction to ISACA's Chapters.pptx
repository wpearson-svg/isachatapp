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7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12192000"/>
  <p:embeddedFontLst>
    <p:embeddedFont>
      <p:font typeface="Alexandria SemiBold" panose="020B0604020202020204" charset="-78"/>
      <p:regular r:id="rId12"/>
    </p:embeddedFont>
    <p:embeddedFont>
      <p:font typeface="Inter Bold" panose="02000503000000020004" pitchFamily="2" charset="0"/>
      <p:bold r:id="rId13"/>
    </p:embeddedFont>
    <p:embeddedFont>
      <p:font typeface="Poppins" panose="00000500000000000000" pitchFamily="2" charset="0"/>
      <p:regular r:id="rId14"/>
      <p:bold r:id="rId15"/>
    </p:embeddedFont>
    <p:embeddedFont>
      <p:font typeface="Poppins Bold" panose="00000800000000000000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8813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A05CEC-E7FF-431F-A138-E7D6459135E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45044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7EE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AFA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Slide - Red Po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food&#10;&#10;Description automatically generated">
            <a:extLst>
              <a:ext uri="{FF2B5EF4-FFF2-40B4-BE49-F238E27FC236}">
                <a16:creationId xmlns:a16="http://schemas.microsoft.com/office/drawing/2014/main" id="{31065425-FDB1-4D96-9387-3E9AC96C78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894"/>
            <a:ext cx="12188825" cy="685621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6888" y="1398555"/>
            <a:ext cx="7427912" cy="2387600"/>
          </a:xfrm>
        </p:spPr>
        <p:txBody>
          <a:bodyPr anchor="b" anchorCtr="0"/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888" y="3786155"/>
            <a:ext cx="7427912" cy="349476"/>
          </a:xfrm>
        </p:spPr>
        <p:txBody>
          <a:bodyPr/>
          <a:lstStyle>
            <a:lvl1pPr marL="0" indent="0" algn="l">
              <a:buNone/>
              <a:defRPr sz="1600" cap="none" baseline="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6888" y="6160748"/>
            <a:ext cx="548141" cy="365125"/>
          </a:xfrm>
        </p:spPr>
        <p:txBody>
          <a:bodyPr/>
          <a:lstStyle>
            <a:lvl1pPr algn="r"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A82C3BC0-3EBF-3C4C-A3D8-795624EBC6A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 descr="A picture containing drawing&#10;&#10;Description automatically generated">
            <a:extLst>
              <a:ext uri="{FF2B5EF4-FFF2-40B4-BE49-F238E27FC236}">
                <a16:creationId xmlns:a16="http://schemas.microsoft.com/office/drawing/2014/main" id="{1CAF0878-39F9-4E15-8523-CD3FD77E23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16587" y="5784666"/>
            <a:ext cx="2486024" cy="1081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891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929F8E-C885-A6CB-3B6E-808E67FAD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6888" y="6160748"/>
            <a:ext cx="548141" cy="365125"/>
          </a:xfrm>
        </p:spPr>
        <p:txBody>
          <a:bodyPr anchor="ctr">
            <a:normAutofit lnSpcReduction="10000"/>
          </a:bodyPr>
          <a:lstStyle/>
          <a:p>
            <a:pPr defTabSz="914377">
              <a:spcAft>
                <a:spcPts val="600"/>
              </a:spcAft>
            </a:pPr>
            <a:fld id="{A82C3BC0-3EBF-3C4C-A3D8-795624EBC6AA}" type="slidenum">
              <a:rPr lang="en-US">
                <a:solidFill>
                  <a:srgbClr val="FFFFFF">
                    <a:lumMod val="75000"/>
                  </a:srgbClr>
                </a:solidFill>
                <a:latin typeface="Arial" panose="020B0604020202020204"/>
              </a:rPr>
              <a:pPr defTabSz="914377">
                <a:spcAft>
                  <a:spcPts val="600"/>
                </a:spcAft>
              </a:pPr>
              <a:t>1</a:t>
            </a:fld>
            <a:endParaRPr lang="en-US">
              <a:solidFill>
                <a:srgbClr val="FFFFFF">
                  <a:lumMod val="75000"/>
                </a:srgbClr>
              </a:solidFill>
              <a:latin typeface="Arial" panose="020B0604020202020204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2A770881-49ED-D898-DF26-5A452558DB55}"/>
              </a:ext>
            </a:extLst>
          </p:cNvPr>
          <p:cNvSpPr/>
          <p:nvPr/>
        </p:nvSpPr>
        <p:spPr>
          <a:xfrm>
            <a:off x="661493" y="2130326"/>
            <a:ext cx="6297017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>
              <a:lnSpc>
                <a:spcPct val="104000"/>
              </a:lnSpc>
            </a:pPr>
            <a:r>
              <a:rPr lang="en-US" sz="3733" b="1" dirty="0">
                <a:solidFill>
                  <a:schemeClr val="bg1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 Introduction to ISACA’s Chapters</a:t>
            </a:r>
            <a:endParaRPr lang="en-US" sz="3733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2105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18059" y="522486"/>
            <a:ext cx="6355993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What Is ISACA?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819038" y="1581955"/>
            <a:ext cx="3927556" cy="2223393"/>
          </a:xfrm>
          <a:prstGeom prst="roundRect">
            <a:avLst>
              <a:gd name="adj" fmla="val 3411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311791" y="1758752"/>
            <a:ext cx="2714061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Founded 1969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995168" y="2186124"/>
            <a:ext cx="3619964" cy="1444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Originally the EDP Auditors Association — now a leading global nonprofit association serving IT and IS professionals worldwide.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096000" y="1587699"/>
            <a:ext cx="3945539" cy="2223393"/>
          </a:xfrm>
          <a:prstGeom prst="roundRect">
            <a:avLst>
              <a:gd name="adj" fmla="val 3411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704500" y="1719539"/>
            <a:ext cx="2714160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195,000+ Members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6499140" y="2148242"/>
            <a:ext cx="3245650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Professionals in audit, cybersecurity, risk, governance, and digital trust across every major region.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19038" y="4223986"/>
            <a:ext cx="9222501" cy="1356618"/>
          </a:xfrm>
          <a:prstGeom prst="roundRect">
            <a:avLst>
              <a:gd name="adj" fmla="val 5590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228584" y="4409517"/>
            <a:ext cx="598234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Global Certifications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995169" y="4830349"/>
            <a:ext cx="9166748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CISA, CISM, CRISC, CDPSE, and more — industry-recognized credentials that define careers.</a:t>
            </a:r>
            <a:endParaRPr lang="en-US" sz="1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52A52F5-8173-9EB8-D003-630BA0471B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943" b="12494"/>
          <a:stretch>
            <a:fillRect/>
          </a:stretch>
        </p:blipFill>
        <p:spPr>
          <a:xfrm>
            <a:off x="10388895" y="6299517"/>
            <a:ext cx="1353204" cy="3502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1863626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What Is an ISACA Chapter?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31908" y="2818606"/>
            <a:ext cx="10927878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Chapters are </a:t>
            </a:r>
            <a:r>
              <a:rPr lang="en-US" sz="1400" b="1" dirty="0">
                <a:solidFill>
                  <a:srgbClr val="3B353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local, member-led organizations</a:t>
            </a:r>
            <a:r>
              <a:rPr lang="en-US" sz="1400" dirty="0">
                <a:solidFill>
                  <a:srgbClr val="3B35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that bring ISACA's mission to life at the community level. They are the primary way members experience ISACA in their day-to-day professional lives.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908" y="3599557"/>
            <a:ext cx="5373652" cy="13947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39380" y="3805436"/>
            <a:ext cx="4860307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230 Chapters Worldwide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939380" y="4210546"/>
            <a:ext cx="4860307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Spanning Africa, Asia, Europe, Central America, North America, South America, and Oceania.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6035" y="3599557"/>
            <a:ext cx="5373752" cy="139471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93506" y="3805436"/>
            <a:ext cx="4860407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Membership Is Flexible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6493506" y="4210546"/>
            <a:ext cx="4860407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Members may join any ISACA chapter or no chapter (and remain an "At-Large" member of ISACA Global only).</a:t>
            </a:r>
            <a:endParaRPr lang="en-US" sz="14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49476F4-AE7E-C95E-172C-18310C43779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1943" b="12494"/>
          <a:stretch>
            <a:fillRect/>
          </a:stretch>
        </p:blipFill>
        <p:spPr>
          <a:xfrm>
            <a:off x="10285379" y="6161743"/>
            <a:ext cx="1353204" cy="3502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1636117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The Chapter's Core Mission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31908" y="2591098"/>
            <a:ext cx="10927878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Chapters serve as the </a:t>
            </a:r>
            <a:r>
              <a:rPr lang="en-US" sz="1400" b="1" dirty="0">
                <a:solidFill>
                  <a:srgbClr val="3B353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local face of ISACA</a:t>
            </a:r>
            <a:r>
              <a:rPr lang="en-US" sz="1400" dirty="0">
                <a:solidFill>
                  <a:srgbClr val="3B35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delivering education, networking, and professional development to members in their region.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908" y="3372048"/>
            <a:ext cx="451335" cy="4513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08861" y="3372048"/>
            <a:ext cx="2815262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Education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308861" y="3777159"/>
            <a:ext cx="2815262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Local training events, webinars, and certification prep courses that keep members current and credentialed.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9740" y="3372048"/>
            <a:ext cx="451335" cy="45134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026693" y="3372048"/>
            <a:ext cx="2815262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Community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5026693" y="3777159"/>
            <a:ext cx="2815262" cy="1155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Networking, mentorship, and peer support that connects IS/IT professionals across local markets.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67572" y="3372048"/>
            <a:ext cx="451335" cy="45134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744525" y="3372048"/>
            <a:ext cx="2815262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Advocacy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8744525" y="3777159"/>
            <a:ext cx="2815262" cy="1444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Promoting best practices and digital trust — lobbying and recommending standards to advance the IS/IT industry locally.</a:t>
            </a:r>
            <a:endParaRPr lang="en-US" sz="14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FA32800-CE76-9C63-10FA-C9EB925A73F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1943" b="12494"/>
          <a:stretch>
            <a:fillRect/>
          </a:stretch>
        </p:blipFill>
        <p:spPr>
          <a:xfrm>
            <a:off x="10285379" y="6161743"/>
            <a:ext cx="1353204" cy="3502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496491"/>
            <a:ext cx="10927878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How Chapters Are Governed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908" y="911721"/>
            <a:ext cx="5353809" cy="53539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829455" y="1815257"/>
            <a:ext cx="5353809" cy="148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Volunteer Board of Directors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884524" y="2544439"/>
            <a:ext cx="5353809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Each chapter is led by elected volunteer officers: </a:t>
            </a:r>
            <a:r>
              <a:rPr lang="en-US" sz="1200" b="1" dirty="0">
                <a:solidFill>
                  <a:srgbClr val="3B3535"/>
                </a:solidFill>
                <a:latin typeface="Poppins" panose="00000500000000000000" pitchFamily="2" charset="0"/>
                <a:ea typeface="Poppins Bold" pitchFamily="34" charset="-122"/>
                <a:cs typeface="Poppins" panose="00000500000000000000" pitchFamily="2" charset="0"/>
              </a:rPr>
              <a:t>President, President Elect or Vice-President, Secretary, Treasurer,</a:t>
            </a:r>
            <a:r>
              <a:rPr lang="en-US" sz="1200" dirty="0">
                <a:solidFill>
                  <a:srgbClr val="3B3535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 and committee leads. Officers may vary by chapter, but generally, each chapter has these positions.</a:t>
            </a:r>
            <a:endParaRPr lang="en-US" sz="12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5884524" y="3519376"/>
            <a:ext cx="5142478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</a:t>
            </a:r>
            <a:r>
              <a:rPr lang="en-US" sz="1200" b="1" dirty="0">
                <a:solidFill>
                  <a:srgbClr val="3B353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President</a:t>
            </a:r>
            <a:r>
              <a:rPr lang="en-US" sz="1200" dirty="0">
                <a:solidFill>
                  <a:srgbClr val="3B35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serves as the chapter's official representative to ISACA Global Headquarters, communicating chapter needs and concerns.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5884524" y="4345113"/>
            <a:ext cx="5142478" cy="108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Chapters submit </a:t>
            </a:r>
            <a:r>
              <a:rPr lang="en-US" sz="1200" b="1" dirty="0">
                <a:solidFill>
                  <a:srgbClr val="3B3535"/>
                </a:solidFill>
                <a:latin typeface="Poppins" panose="00000500000000000000" pitchFamily="2" charset="0"/>
                <a:ea typeface="Poppins Bold" pitchFamily="34" charset="-122"/>
                <a:cs typeface="Poppins" panose="00000500000000000000" pitchFamily="2" charset="0"/>
              </a:rPr>
              <a:t>annual reports and financial audits</a:t>
            </a:r>
            <a:r>
              <a:rPr lang="en-US" sz="1200" dirty="0">
                <a:solidFill>
                  <a:srgbClr val="3B3535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 to maintain 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3B3535"/>
                </a:solidFill>
                <a:latin typeface="Poppins" panose="00000500000000000000" pitchFamily="2" charset="0"/>
                <a:ea typeface="Poppins" pitchFamily="34" charset="-122"/>
                <a:cs typeface="Poppins" panose="00000500000000000000" pitchFamily="2" charset="0"/>
              </a:rPr>
              <a:t>their charter in good standing</a:t>
            </a:r>
            <a:r>
              <a:rPr lang="en-US" sz="700" dirty="0">
                <a:solidFill>
                  <a:srgbClr val="3B35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7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1A75C8C-531E-3BD5-482B-0C88C2A5C52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1943" b="12494"/>
          <a:stretch>
            <a:fillRect/>
          </a:stretch>
        </p:blipFill>
        <p:spPr>
          <a:xfrm>
            <a:off x="10285379" y="6161743"/>
            <a:ext cx="1353204" cy="3502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2293" y="1310978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What Chapters Offer Members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31908" y="2859782"/>
            <a:ext cx="3492214" cy="595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6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Up to 72+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631908" y="3681115"/>
            <a:ext cx="349221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Free CPE Credits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31908" y="4086225"/>
            <a:ext cx="3492214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Available annually to help members maintain their certifications and professional standing.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49740" y="2859782"/>
            <a:ext cx="3492214" cy="595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6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25%</a:t>
            </a:r>
            <a:endParaRPr lang="en-US" sz="4650" dirty="0"/>
          </a:p>
        </p:txBody>
      </p:sp>
      <p:sp>
        <p:nvSpPr>
          <p:cNvPr id="7" name="Text 5"/>
          <p:cNvSpPr/>
          <p:nvPr/>
        </p:nvSpPr>
        <p:spPr>
          <a:xfrm>
            <a:off x="4349740" y="3681115"/>
            <a:ext cx="349221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Exam Discount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349740" y="4086225"/>
            <a:ext cx="3492214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Up to 25% off CISA, CISM, CRISC, CGEIT, and other exam registrations for members.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67572" y="2859782"/>
            <a:ext cx="3492214" cy="595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6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230+</a:t>
            </a:r>
            <a:endParaRPr lang="en-US" sz="4650" dirty="0"/>
          </a:p>
        </p:txBody>
      </p:sp>
      <p:sp>
        <p:nvSpPr>
          <p:cNvPr id="10" name="Text 8"/>
          <p:cNvSpPr/>
          <p:nvPr/>
        </p:nvSpPr>
        <p:spPr>
          <a:xfrm>
            <a:off x="8067572" y="3681115"/>
            <a:ext cx="349221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Local Chapters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067572" y="4086225"/>
            <a:ext cx="3492214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Worldwide venues for networking, mentorship, volunteer leadership, and career development.</a:t>
            </a:r>
            <a:endParaRPr lang="en-US" sz="1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9638051-AC08-314D-FDED-65A43172EE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943" b="12494"/>
          <a:stretch>
            <a:fillRect/>
          </a:stretch>
        </p:blipFill>
        <p:spPr>
          <a:xfrm>
            <a:off x="10285379" y="6161743"/>
            <a:ext cx="1353204" cy="3502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25683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908" y="2548881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The Chapter–HQ Relationship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709546" y="3303751"/>
            <a:ext cx="10927878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A Partnership Built on Alignment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709546" y="3853855"/>
            <a:ext cx="10927878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Chapters operate </a:t>
            </a:r>
            <a:r>
              <a:rPr lang="en-US" sz="1400" b="1" dirty="0">
                <a:solidFill>
                  <a:srgbClr val="3B353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semi-autonomously</a:t>
            </a:r>
            <a:r>
              <a:rPr lang="en-US" sz="1400" dirty="0">
                <a:solidFill>
                  <a:srgbClr val="3B35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but align with ISACA's global standards, bylaws, and brand guidelines. Neither side succeeds without the other.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09546" y="4684946"/>
            <a:ext cx="10927878" cy="1281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ISACA HQ provides resources, tools, the </a:t>
            </a:r>
            <a:r>
              <a:rPr lang="en-US" sz="1400" b="1" dirty="0">
                <a:solidFill>
                  <a:srgbClr val="3B353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Engage</a:t>
            </a:r>
            <a:r>
              <a:rPr lang="en-US" sz="1400" dirty="0">
                <a:solidFill>
                  <a:srgbClr val="3B35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online platform, and chapter awards recognition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Staff at HQ support chapters guide chapters through program needs, governance, compliance, and other operational and support needs</a:t>
            </a:r>
            <a:endParaRPr lang="en-US" sz="1400" dirty="0"/>
          </a:p>
          <a:p>
            <a:pPr marL="284480" indent="-284480" algn="l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3B35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Chapter presidents attend leadership conferences to stay aligned with global strategy</a:t>
            </a:r>
            <a:endParaRPr lang="en-US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D90B489-1F1B-CA91-8B8C-EBEE5256796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1943" b="12494"/>
          <a:stretch>
            <a:fillRect/>
          </a:stretch>
        </p:blipFill>
        <p:spPr>
          <a:xfrm>
            <a:off x="10285379" y="6161743"/>
            <a:ext cx="1353204" cy="3502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31614"/>
            <a:ext cx="10927878" cy="575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The Chapter Affiliation Agreement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31908" y="1445716"/>
            <a:ext cx="11537463" cy="275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</a:t>
            </a:r>
            <a:r>
              <a:rPr lang="en-US" sz="1350" b="1" dirty="0">
                <a:solidFill>
                  <a:srgbClr val="3B3535"/>
                </a:solidFill>
                <a:latin typeface="Poppins Bold" pitchFamily="34" charset="0"/>
                <a:ea typeface="Poppins Bold" pitchFamily="34" charset="-122"/>
                <a:cs typeface="Poppins Bold" pitchFamily="34" charset="-120"/>
              </a:rPr>
              <a:t>legal foundation</a:t>
            </a:r>
            <a:r>
              <a:rPr lang="en-US" sz="1350" dirty="0">
                <a:solidFill>
                  <a:srgbClr val="3B35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of the chapter–ISACA relationship, signed by each chapter and ISACA Global.</a:t>
            </a:r>
            <a:endParaRPr lang="en-US" sz="13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908" y="1911747"/>
            <a:ext cx="5379208" cy="2122587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90299" y="2058690"/>
            <a:ext cx="262328" cy="26233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5777" y="2624832"/>
            <a:ext cx="4991471" cy="287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The Charter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825777" y="3014166"/>
            <a:ext cx="4991471" cy="826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Grants official authorization to operate as an independent ISACA chapter within a </a:t>
            </a:r>
            <a:r>
              <a:rPr lang="en-US" sz="1350" dirty="0" err="1">
                <a:solidFill>
                  <a:srgbClr val="3B35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definedtTerritory</a:t>
            </a:r>
            <a:r>
              <a:rPr lang="en-US" sz="1350" dirty="0">
                <a:solidFill>
                  <a:srgbClr val="3B35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— at no fee to the chapter.</a:t>
            </a:r>
            <a:endParaRPr lang="en-US" sz="13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0479" y="1911747"/>
            <a:ext cx="5379308" cy="2122587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738969" y="2058690"/>
            <a:ext cx="262328" cy="262334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374348" y="2624832"/>
            <a:ext cx="4991570" cy="287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Performance Standards</a:t>
            </a:r>
            <a:endParaRPr lang="en-US" sz="1800" dirty="0"/>
          </a:p>
        </p:txBody>
      </p:sp>
      <p:sp>
        <p:nvSpPr>
          <p:cNvPr id="11" name="Text 5"/>
          <p:cNvSpPr/>
          <p:nvPr/>
        </p:nvSpPr>
        <p:spPr>
          <a:xfrm>
            <a:off x="6374348" y="3014166"/>
            <a:ext cx="4991570" cy="826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4+ board meetings annually, 4+ educational events, elections at least every 2 years, and required reports submitted to ISACA.</a:t>
            </a:r>
            <a:endParaRPr lang="en-US" sz="135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1908" y="4203700"/>
            <a:ext cx="5379208" cy="2122587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90299" y="4350643"/>
            <a:ext cx="262328" cy="262334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825777" y="4916785"/>
            <a:ext cx="4991471" cy="287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Independent Contractors</a:t>
            </a:r>
            <a:endParaRPr lang="en-US" sz="1800" dirty="0"/>
          </a:p>
        </p:txBody>
      </p:sp>
      <p:sp>
        <p:nvSpPr>
          <p:cNvPr id="15" name="Text 7"/>
          <p:cNvSpPr/>
          <p:nvPr/>
        </p:nvSpPr>
        <p:spPr>
          <a:xfrm>
            <a:off x="825777" y="5306120"/>
            <a:ext cx="4991471" cy="826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Chapters are legally and financially independent — not agents or subsidiaries of ISACA. Each chapter manages its own affairs.</a:t>
            </a:r>
            <a:endParaRPr lang="en-US" sz="135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80479" y="4203700"/>
            <a:ext cx="5379308" cy="2122587"/>
          </a:xfrm>
          <a:prstGeom prst="rect">
            <a:avLst/>
          </a:prstGeom>
        </p:spPr>
      </p:pic>
      <p:pic>
        <p:nvPicPr>
          <p:cNvPr id="17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38969" y="4350643"/>
            <a:ext cx="262328" cy="262334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6374348" y="4916785"/>
            <a:ext cx="4991570" cy="287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Brand &amp; IP License</a:t>
            </a:r>
            <a:endParaRPr lang="en-US" sz="1800" dirty="0"/>
          </a:p>
        </p:txBody>
      </p:sp>
      <p:sp>
        <p:nvSpPr>
          <p:cNvPr id="19" name="Text 9"/>
          <p:cNvSpPr/>
          <p:nvPr/>
        </p:nvSpPr>
        <p:spPr>
          <a:xfrm>
            <a:off x="6374348" y="5306120"/>
            <a:ext cx="4991570" cy="826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limited, revocable, royalty-free license to use ISACA's name, logo, and trademarks for official chapter purposes only.</a:t>
            </a:r>
            <a:endParaRPr lang="en-US" sz="135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78D231E-E157-85FC-B06A-C179DD5DB2E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31943" b="12494"/>
          <a:stretch>
            <a:fillRect/>
          </a:stretch>
        </p:blipFill>
        <p:spPr>
          <a:xfrm>
            <a:off x="10285379" y="6427888"/>
            <a:ext cx="1353204" cy="3502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2061" y="870269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Our Role as ISACA Chapter Experience Staff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31908" y="2077244"/>
            <a:ext cx="406191" cy="40620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218574" y="2139255"/>
            <a:ext cx="10341212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Support Chapters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1218574" y="2544366"/>
            <a:ext cx="10341212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Help volunteer leaders navigate resources, reporting, and compliance — making their work easier and more effective.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1908" y="3483273"/>
            <a:ext cx="406191" cy="40620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18574" y="3545284"/>
            <a:ext cx="10341212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Enable Growth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1218574" y="3950395"/>
            <a:ext cx="10341212" cy="28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Connect chapters to HQ programs, tools, and best practices so they can deliver more value to local members.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1908" y="4600377"/>
            <a:ext cx="406191" cy="40620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6350">
            <a:solidFill>
              <a:srgbClr val="BBC2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18574" y="4662388"/>
            <a:ext cx="10341212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Be the Bridge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1218574" y="5067498"/>
            <a:ext cx="10341212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Translate global strategy into local chapter action — and bring chapter feedback back to HQ. Chapters thrive when staff and volunteers work as true partners toward a shared mission.</a:t>
            </a:r>
            <a:endParaRPr lang="en-US" sz="1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CA243DF-412E-BCCF-2EE7-9779D9D295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943" b="12494"/>
          <a:stretch>
            <a:fillRect/>
          </a:stretch>
        </p:blipFill>
        <p:spPr>
          <a:xfrm>
            <a:off x="10285379" y="6252762"/>
            <a:ext cx="1353204" cy="3502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681</Words>
  <Application>Microsoft Office PowerPoint</Application>
  <PresentationFormat>Widescreen</PresentationFormat>
  <Paragraphs>71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Inter Bold</vt:lpstr>
      <vt:lpstr>Alexandria SemiBold</vt:lpstr>
      <vt:lpstr>Arial</vt:lpstr>
      <vt:lpstr>Poppins</vt:lpstr>
      <vt:lpstr>Poppins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Camille Sanders</cp:lastModifiedBy>
  <cp:revision>2</cp:revision>
  <dcterms:created xsi:type="dcterms:W3CDTF">2026-09-17T23:05:03Z</dcterms:created>
  <dcterms:modified xsi:type="dcterms:W3CDTF">2026-09-17T23:15:59Z</dcterms:modified>
</cp:coreProperties>
</file>